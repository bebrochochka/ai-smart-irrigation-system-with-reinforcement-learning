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5" r:id="rId10"/>
    <p:sldId id="266" r:id="rId11"/>
    <p:sldId id="267" r:id="rId12"/>
  </p:sldIdLst>
  <p:sldSz cx="14630400" cy="82296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8" d="100"/>
          <a:sy n="68" d="100"/>
        </p:scale>
        <p:origin x="715" y="7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23F9FDA-2284-4A2E-B797-993DC3510567}" type="datetimeFigureOut">
              <a:rPr lang="en-US" smtClean="0"/>
              <a:t>7/5/2026</a:t>
            </a:fld>
            <a:endParaRPr lang="en-US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23C4211-7E3B-415E-A2B4-F152FDE8BF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13944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10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.png"/><Relationship Id="rId5" Type="http://schemas.openxmlformats.org/officeDocument/2006/relationships/image" Target="../media/image9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5" Type="http://schemas.openxmlformats.org/officeDocument/2006/relationships/hyperlink" Target="https://surl.li/cifelp" TargetMode="External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9.png"/><Relationship Id="rId7" Type="http://schemas.openxmlformats.org/officeDocument/2006/relationships/image" Target="../media/image21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0.png"/><Relationship Id="rId5" Type="http://schemas.openxmlformats.org/officeDocument/2006/relationships/image" Target="../media/image1.png"/><Relationship Id="rId4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2.png"/><Relationship Id="rId4" Type="http://schemas.openxmlformats.org/officeDocument/2006/relationships/image" Target="../media/image9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25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77240" y="594360"/>
            <a:ext cx="1051560" cy="256032"/>
          </a:xfrm>
          <a:prstGeom prst="roundRect">
            <a:avLst/>
          </a:prstGeom>
          <a:solidFill>
            <a:srgbClr val="17B8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WORKING TITLE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325880"/>
            <a:ext cx="5669280" cy="12344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3600" b="1">
                <a:solidFill>
                  <a:srgbClr val="FFFFFF"/>
                </a:solidFill>
                <a:latin typeface="Aptos"/>
              </a:rPr>
              <a:t>AI Irrigation</a:t>
            </a:r>
            <a:r>
              <a:t/>
            </a:r>
            <a:br/>
            <a:r>
              <a:rPr sz="3600" b="1">
                <a:solidFill>
                  <a:srgbClr val="FFFFFF"/>
                </a:solidFill>
                <a:latin typeface="Aptos"/>
              </a:rPr>
              <a:t>for Uzbekistan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926080"/>
            <a:ext cx="5486400" cy="5943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800" b="0">
                <a:solidFill>
                  <a:srgbClr val="D8E9E5"/>
                </a:solidFill>
                <a:latin typeface="Aptos"/>
              </a:rPr>
              <a:t>Helping farms decide when and how much to irrigate — using soil/weather data and AI.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680960" y="914400"/>
            <a:ext cx="5943600" cy="5715000"/>
          </a:xfrm>
          <a:prstGeom prst="roundRect">
            <a:avLst/>
          </a:prstGeom>
          <a:solidFill>
            <a:srgbClr val="0A3033"/>
          </a:solidFill>
          <a:ln>
            <a:solidFill>
              <a:srgbClr val="0D45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wa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1040" y="1508760"/>
            <a:ext cx="1143000" cy="1143000"/>
          </a:xfrm>
          <a:prstGeom prst="rect">
            <a:avLst/>
          </a:prstGeom>
        </p:spPr>
      </p:pic>
      <p:pic>
        <p:nvPicPr>
          <p:cNvPr id="7" name="Picture 6" descr="far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0" y="1417320"/>
            <a:ext cx="1371600" cy="1371600"/>
          </a:xfrm>
          <a:prstGeom prst="rect">
            <a:avLst/>
          </a:prstGeom>
        </p:spPr>
      </p:pic>
      <p:pic>
        <p:nvPicPr>
          <p:cNvPr id="8" name="Picture 7" descr="ai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978640" y="1508760"/>
            <a:ext cx="1143000" cy="1143000"/>
          </a:xfrm>
          <a:prstGeom prst="rect">
            <a:avLst/>
          </a:prstGeom>
        </p:spPr>
      </p:pic>
      <p:pic>
        <p:nvPicPr>
          <p:cNvPr id="9" name="Picture 8" descr="senso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95360" y="3931920"/>
            <a:ext cx="1097280" cy="1097280"/>
          </a:xfrm>
          <a:prstGeom prst="rect">
            <a:avLst/>
          </a:prstGeom>
        </p:spPr>
      </p:pic>
      <p:pic>
        <p:nvPicPr>
          <p:cNvPr id="10" name="Picture 9" descr="pump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287000" y="3977639"/>
            <a:ext cx="1097280" cy="1097280"/>
          </a:xfrm>
          <a:prstGeom prst="rect">
            <a:avLst/>
          </a:prstGeom>
        </p:spPr>
      </p:pic>
      <p:pic>
        <p:nvPicPr>
          <p:cNvPr id="11" name="Picture 10" descr="energy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978640" y="3977639"/>
            <a:ext cx="1097280" cy="1097280"/>
          </a:xfrm>
          <a:prstGeom prst="rect">
            <a:avLst/>
          </a:prstGeom>
        </p:spPr>
      </p:pic>
      <p:cxnSp>
        <p:nvCxnSpPr>
          <p:cNvPr id="12" name="Connector 11"/>
          <p:cNvCxnSpPr/>
          <p:nvPr/>
        </p:nvCxnSpPr>
        <p:spPr>
          <a:xfrm>
            <a:off x="9326880" y="2103120"/>
            <a:ext cx="731520" cy="0"/>
          </a:xfrm>
          <a:prstGeom prst="line">
            <a:avLst/>
          </a:prstGeom>
          <a:ln w="25400">
            <a:solidFill>
              <a:srgbClr val="17B889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11247120" y="2103120"/>
            <a:ext cx="731520" cy="0"/>
          </a:xfrm>
          <a:prstGeom prst="line">
            <a:avLst/>
          </a:prstGeom>
          <a:ln w="25400">
            <a:solidFill>
              <a:srgbClr val="17B889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9509760" y="4572000"/>
            <a:ext cx="777240" cy="0"/>
          </a:xfrm>
          <a:prstGeom prst="line">
            <a:avLst/>
          </a:prstGeom>
          <a:ln w="25400">
            <a:solidFill>
              <a:srgbClr val="17B889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11384280" y="4572000"/>
            <a:ext cx="594360" cy="0"/>
          </a:xfrm>
          <a:prstGeom prst="line">
            <a:avLst/>
          </a:prstGeom>
          <a:ln w="25400">
            <a:solidFill>
              <a:srgbClr val="17B889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10744200" y="2743200"/>
            <a:ext cx="0" cy="1234439"/>
          </a:xfrm>
          <a:prstGeom prst="line">
            <a:avLst/>
          </a:prstGeom>
          <a:ln w="25400">
            <a:solidFill>
              <a:srgbClr val="17B889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822960" y="6492240"/>
            <a:ext cx="5303520" cy="29260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300" b="0">
                <a:solidFill>
                  <a:srgbClr val="9DC0B9"/>
                </a:solidFill>
                <a:latin typeface="Aptos"/>
              </a:rPr>
              <a:t>Prototype deck for Idrock Accelerator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7040880"/>
            <a:ext cx="3657600" cy="4572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200" b="0">
                <a:solidFill>
                  <a:srgbClr val="B8D2CD"/>
                </a:solidFill>
                <a:latin typeface="Aptos"/>
              </a:rPr>
              <a:t>Bakhtiyor Sultanov</a:t>
            </a:r>
            <a:r>
              <a:t/>
            </a:r>
            <a:br/>
            <a:r>
              <a:rPr sz="1200" b="0">
                <a:solidFill>
                  <a:srgbClr val="B8D2CD"/>
                </a:solidFill>
                <a:latin typeface="Aptos"/>
              </a:rPr>
              <a:t>Solo technical founder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7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7406640" cy="8229600"/>
          </a:xfrm>
          <a:prstGeom prst="rect">
            <a:avLst/>
          </a:prstGeom>
          <a:solidFill>
            <a:srgbClr val="0625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539496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2200" b="1">
                <a:solidFill>
                  <a:srgbClr val="FFFFFF"/>
                </a:solidFill>
                <a:latin typeface="Aptos"/>
              </a:rPr>
              <a:t>The bottleneck: water + energy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51560"/>
            <a:ext cx="566928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600" b="0">
                <a:solidFill>
                  <a:srgbClr val="DDEBE8"/>
                </a:solidFill>
                <a:latin typeface="Aptos"/>
              </a:rPr>
              <a:t>Uzbekistan cannot afford to waste water blindly anymore.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194560"/>
            <a:ext cx="246888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2800" b="1">
                <a:solidFill>
                  <a:srgbClr val="17B889"/>
                </a:solidFill>
                <a:latin typeface="Aptos"/>
              </a:rPr>
              <a:t>~90%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697480"/>
            <a:ext cx="2560320" cy="5029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150" b="0">
                <a:solidFill>
                  <a:srgbClr val="C4D8D4"/>
                </a:solidFill>
                <a:latin typeface="Aptos"/>
              </a:rPr>
              <a:t>of national water use is</a:t>
            </a:r>
            <a:r>
              <a:t/>
            </a:r>
            <a:br/>
            <a:r>
              <a:rPr sz="1150" b="0">
                <a:solidFill>
                  <a:srgbClr val="C4D8D4"/>
                </a:solidFill>
                <a:latin typeface="Aptos"/>
              </a:rPr>
              <a:t>agriculture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383280" y="2194560"/>
            <a:ext cx="246888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2800" b="1">
                <a:solidFill>
                  <a:srgbClr val="17B889"/>
                </a:solidFill>
                <a:latin typeface="Aptos"/>
              </a:rPr>
              <a:t>~80%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83280" y="2697480"/>
            <a:ext cx="2560320" cy="5029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150" b="0">
                <a:solidFill>
                  <a:srgbClr val="C4D8D4"/>
                </a:solidFill>
                <a:latin typeface="Aptos"/>
              </a:rPr>
              <a:t>of water resources originate</a:t>
            </a:r>
            <a:r>
              <a:t/>
            </a:r>
            <a:br/>
            <a:r>
              <a:rPr sz="1150" b="0">
                <a:solidFill>
                  <a:srgbClr val="C4D8D4"/>
                </a:solidFill>
                <a:latin typeface="Aptos"/>
              </a:rPr>
              <a:t>outside the country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4206240"/>
            <a:ext cx="246888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2800" b="1">
                <a:solidFill>
                  <a:srgbClr val="17B889"/>
                </a:solidFill>
                <a:latin typeface="Aptos"/>
              </a:rPr>
              <a:t>7.2B kWh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709159"/>
            <a:ext cx="2560320" cy="5029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150" b="0">
                <a:solidFill>
                  <a:srgbClr val="C4D8D4"/>
                </a:solidFill>
                <a:latin typeface="Aptos"/>
              </a:rPr>
              <a:t>annual electricity use by</a:t>
            </a:r>
            <a:r>
              <a:t/>
            </a:r>
            <a:br/>
            <a:r>
              <a:rPr sz="1150" b="0">
                <a:solidFill>
                  <a:srgbClr val="C4D8D4"/>
                </a:solidFill>
                <a:latin typeface="Aptos"/>
              </a:rPr>
              <a:t>irrigation pumps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6629400"/>
            <a:ext cx="5852160" cy="365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300" b="1">
                <a:solidFill>
                  <a:srgbClr val="DDEBE8"/>
                </a:solidFill>
                <a:latin typeface="Aptos"/>
              </a:rPr>
              <a:t>Irrigation efficiency is now a business problem, not only an environmental one.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7406640"/>
            <a:ext cx="5669280" cy="2286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850" b="0">
                <a:solidFill>
                  <a:srgbClr val="88AAA5"/>
                </a:solidFill>
                <a:latin typeface="Aptos"/>
              </a:rPr>
              <a:t>Sources: World Bank; Uzbekistan national SDG platform; stat.uz</a:t>
            </a:r>
          </a:p>
        </p:txBody>
      </p:sp>
      <p:pic>
        <p:nvPicPr>
          <p:cNvPr id="13" name="Picture 12" descr="idrock_temp_crop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06640" y="0"/>
            <a:ext cx="7223760" cy="82296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40080" y="7818120"/>
            <a:ext cx="4572000" cy="2286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000" b="0">
                <a:solidFill>
                  <a:srgbClr val="A7C1BC"/>
                </a:solidFill>
                <a:latin typeface="Aptos"/>
              </a:rPr>
              <a:t>Bakhtiyor Sultanov • Idrock Accelerator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944600" y="7818120"/>
            <a:ext cx="274320" cy="2286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/>
            <a:r>
              <a:rPr sz="1000" b="0">
                <a:solidFill>
                  <a:srgbClr val="A7C1BC"/>
                </a:solidFill>
                <a:latin typeface="Aptos"/>
              </a:rPr>
              <a:t>02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7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640080"/>
            <a:ext cx="585216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2800" b="1">
                <a:solidFill>
                  <a:srgbClr val="09232B"/>
                </a:solidFill>
                <a:latin typeface="Aptos"/>
              </a:rPr>
              <a:t>The farm-level pain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78992"/>
            <a:ext cx="640080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500" b="1">
                <a:solidFill>
                  <a:srgbClr val="466260"/>
                </a:solidFill>
                <a:latin typeface="Aptos"/>
              </a:rPr>
              <a:t>Many irrigation decisions still come from fixed schedules or intuition.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148840"/>
            <a:ext cx="3063240" cy="2834640"/>
          </a:xfrm>
          <a:prstGeom prst="roundRect">
            <a:avLst/>
          </a:prstGeom>
          <a:solidFill>
            <a:srgbClr val="062528"/>
          </a:solidFill>
          <a:ln w="12700">
            <a:solidFill>
              <a:srgbClr val="0625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wa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" y="2423160"/>
            <a:ext cx="594360" cy="5943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960120" y="3291840"/>
            <a:ext cx="2651760" cy="2743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700" b="1">
                <a:solidFill>
                  <a:srgbClr val="FFFFFF"/>
                </a:solidFill>
                <a:latin typeface="Aptos"/>
              </a:rPr>
              <a:t>Unclear crop need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3749039"/>
            <a:ext cx="2651760" cy="6858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150" b="0">
                <a:solidFill>
                  <a:srgbClr val="D5E5E1"/>
                </a:solidFill>
                <a:latin typeface="Aptos"/>
              </a:rPr>
              <a:t>Farmer does not know the exact water need today.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86200" y="3319272"/>
            <a:ext cx="182880" cy="365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4200" b="1">
                <a:solidFill>
                  <a:srgbClr val="17B889"/>
                </a:solidFill>
                <a:latin typeface="Aptos"/>
              </a:rPr>
              <a:t>›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114800" y="2148840"/>
            <a:ext cx="3063240" cy="2834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B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Picture 9" descr="valv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43400" y="2423160"/>
            <a:ext cx="594360" cy="59436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343400" y="3291840"/>
            <a:ext cx="2651760" cy="2743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700" b="1">
                <a:solidFill>
                  <a:srgbClr val="09232B"/>
                </a:solidFill>
                <a:latin typeface="Aptos"/>
              </a:rPr>
              <a:t>Over-irrigation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43400" y="3749039"/>
            <a:ext cx="2651760" cy="6858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150" b="0">
                <a:solidFill>
                  <a:srgbClr val="466260"/>
                </a:solidFill>
                <a:latin typeface="Aptos"/>
              </a:rPr>
              <a:t>Extra water is applied “just to be safe.”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69479" y="3319272"/>
            <a:ext cx="182880" cy="365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4200" b="1">
                <a:solidFill>
                  <a:srgbClr val="17B889"/>
                </a:solidFill>
                <a:latin typeface="Aptos"/>
              </a:rPr>
              <a:t>›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498080" y="2148840"/>
            <a:ext cx="3063240" cy="2834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B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5" name="Picture 14" descr="energ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26680" y="2423160"/>
            <a:ext cx="594360" cy="59436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7726680" y="3291840"/>
            <a:ext cx="2651760" cy="2743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700" b="1">
                <a:solidFill>
                  <a:srgbClr val="09232B"/>
                </a:solidFill>
                <a:latin typeface="Aptos"/>
              </a:rPr>
              <a:t>Pump cost rises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26680" y="3749039"/>
            <a:ext cx="2651760" cy="6858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150" b="0">
                <a:solidFill>
                  <a:srgbClr val="466260"/>
                </a:solidFill>
                <a:latin typeface="Aptos"/>
              </a:rPr>
              <a:t>More water means more electricity and labor.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652760" y="3319272"/>
            <a:ext cx="182880" cy="365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4200" b="1">
                <a:solidFill>
                  <a:srgbClr val="17B889"/>
                </a:solidFill>
                <a:latin typeface="Aptos"/>
              </a:rPr>
              <a:t>›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881360" y="2148840"/>
            <a:ext cx="3063240" cy="2834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B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0" name="Picture 19" descr="farm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09960" y="2423160"/>
            <a:ext cx="594360" cy="59436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11109960" y="3291840"/>
            <a:ext cx="2651760" cy="2743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700" b="1">
                <a:solidFill>
                  <a:srgbClr val="09232B"/>
                </a:solidFill>
                <a:latin typeface="Aptos"/>
              </a:rPr>
              <a:t>Productivity risk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109960" y="3749039"/>
            <a:ext cx="2651760" cy="6858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150" b="0">
                <a:solidFill>
                  <a:srgbClr val="466260"/>
                </a:solidFill>
                <a:latin typeface="Aptos"/>
              </a:rPr>
              <a:t>Too much or too little water can hurt crop performance.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" y="5806440"/>
            <a:ext cx="822960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400" b="1">
                <a:solidFill>
                  <a:srgbClr val="09232B"/>
                </a:solidFill>
                <a:latin typeface="Aptos"/>
              </a:rPr>
              <a:t>Customer who feels the pain first: greenhouse operators and farms using pumps.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7818120"/>
            <a:ext cx="4572000" cy="2286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000" b="0">
                <a:solidFill>
                  <a:srgbClr val="A7C1BC"/>
                </a:solidFill>
                <a:latin typeface="Aptos"/>
              </a:rPr>
              <a:t>Bakhtiyor Sultanov • Idrock Accelerator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944600" y="7818120"/>
            <a:ext cx="274320" cy="2286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/>
            <a:r>
              <a:rPr sz="1000" b="0">
                <a:solidFill>
                  <a:srgbClr val="A7C1BC"/>
                </a:solidFill>
                <a:latin typeface="Aptos"/>
              </a:rPr>
              <a:t>03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25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640080"/>
            <a:ext cx="5029200" cy="4572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2800" b="1">
                <a:solidFill>
                  <a:srgbClr val="FFFFFF"/>
                </a:solidFill>
                <a:latin typeface="Aptos"/>
              </a:rPr>
              <a:t>The 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43000"/>
            <a:ext cx="6583680" cy="6858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700" b="1">
                <a:solidFill>
                  <a:srgbClr val="E1F0EC"/>
                </a:solidFill>
                <a:latin typeface="Aptos"/>
              </a:rPr>
              <a:t>An AI irrigation system that helps farmers use less water and electricity by making smarter watering decisions.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0" y="914400"/>
            <a:ext cx="5303520" cy="5852160"/>
          </a:xfrm>
          <a:prstGeom prst="roundRect">
            <a:avLst/>
          </a:prstGeom>
          <a:solidFill>
            <a:srgbClr val="0A3033"/>
          </a:solidFill>
          <a:ln>
            <a:solidFill>
              <a:srgbClr val="145A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sens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69680" y="1645920"/>
            <a:ext cx="1097280" cy="1097280"/>
          </a:xfrm>
          <a:prstGeom prst="rect">
            <a:avLst/>
          </a:prstGeom>
        </p:spPr>
      </p:pic>
      <p:pic>
        <p:nvPicPr>
          <p:cNvPr id="6" name="Picture 5" descr="ai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07040" y="1600200"/>
            <a:ext cx="1234440" cy="1234440"/>
          </a:xfrm>
          <a:prstGeom prst="rect">
            <a:avLst/>
          </a:prstGeom>
        </p:spPr>
      </p:pic>
      <p:pic>
        <p:nvPicPr>
          <p:cNvPr id="7" name="Picture 6" descr="pum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298680" y="1645920"/>
            <a:ext cx="1097280" cy="1097280"/>
          </a:xfrm>
          <a:prstGeom prst="rect">
            <a:avLst/>
          </a:prstGeom>
        </p:spPr>
      </p:pic>
      <p:pic>
        <p:nvPicPr>
          <p:cNvPr id="8" name="Picture 7" descr="char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84080" y="4160520"/>
            <a:ext cx="1143000" cy="1143000"/>
          </a:xfrm>
          <a:prstGeom prst="rect">
            <a:avLst/>
          </a:prstGeom>
        </p:spPr>
      </p:pic>
      <p:pic>
        <p:nvPicPr>
          <p:cNvPr id="9" name="Picture 8" descr="water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658600" y="4160520"/>
            <a:ext cx="1143000" cy="1143000"/>
          </a:xfrm>
          <a:prstGeom prst="rect">
            <a:avLst/>
          </a:prstGeom>
        </p:spPr>
      </p:pic>
      <p:cxnSp>
        <p:nvCxnSpPr>
          <p:cNvPr id="10" name="Connector 9"/>
          <p:cNvCxnSpPr/>
          <p:nvPr/>
        </p:nvCxnSpPr>
        <p:spPr>
          <a:xfrm>
            <a:off x="9966960" y="2148840"/>
            <a:ext cx="640080" cy="0"/>
          </a:xfrm>
          <a:prstGeom prst="line">
            <a:avLst/>
          </a:prstGeom>
          <a:ln w="25400">
            <a:solidFill>
              <a:srgbClr val="17B889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11841480" y="2148840"/>
            <a:ext cx="457200" cy="0"/>
          </a:xfrm>
          <a:prstGeom prst="line">
            <a:avLst/>
          </a:prstGeom>
          <a:ln w="25400">
            <a:solidFill>
              <a:srgbClr val="17B889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H="1">
            <a:off x="10424160" y="2743200"/>
            <a:ext cx="777240" cy="1371600"/>
          </a:xfrm>
          <a:prstGeom prst="line">
            <a:avLst/>
          </a:prstGeom>
          <a:ln w="25400">
            <a:solidFill>
              <a:srgbClr val="17B889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11247120" y="2743200"/>
            <a:ext cx="640080" cy="1371600"/>
          </a:xfrm>
          <a:prstGeom prst="line">
            <a:avLst/>
          </a:prstGeom>
          <a:ln w="25400">
            <a:solidFill>
              <a:srgbClr val="17B889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4" name="Picture 13" descr="check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1520" y="2148840"/>
            <a:ext cx="228600" cy="22860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051560" y="2130552"/>
            <a:ext cx="5120640" cy="2286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400" b="1">
                <a:solidFill>
                  <a:srgbClr val="E5F3EF"/>
                </a:solidFill>
                <a:latin typeface="Aptos"/>
              </a:rPr>
              <a:t>Uses soil + weather data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1560" y="2404872"/>
            <a:ext cx="5669280" cy="2286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150" b="0">
                <a:solidFill>
                  <a:srgbClr val="AECBC5"/>
                </a:solidFill>
                <a:latin typeface="Aptos"/>
              </a:rPr>
              <a:t>Decision support based on real conditions.</a:t>
            </a:r>
          </a:p>
        </p:txBody>
      </p:sp>
      <p:pic>
        <p:nvPicPr>
          <p:cNvPr id="17" name="Picture 16" descr="check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1520" y="2926080"/>
            <a:ext cx="228600" cy="22860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1051560" y="2907792"/>
            <a:ext cx="5120640" cy="2286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400" b="1">
                <a:solidFill>
                  <a:srgbClr val="E5F3EF"/>
                </a:solidFill>
                <a:latin typeface="Aptos"/>
              </a:rPr>
              <a:t>Learns better irrigation actions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1560" y="3182112"/>
            <a:ext cx="5669280" cy="2286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150" b="0">
                <a:solidFill>
                  <a:srgbClr val="AECBC5"/>
                </a:solidFill>
                <a:latin typeface="Aptos"/>
              </a:rPr>
              <a:t>Reinforcement learning improves policy choices.</a:t>
            </a:r>
          </a:p>
        </p:txBody>
      </p:sp>
      <p:pic>
        <p:nvPicPr>
          <p:cNvPr id="20" name="Picture 19" descr="check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1520" y="3703320"/>
            <a:ext cx="228600" cy="22860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1051560" y="3685032"/>
            <a:ext cx="5120640" cy="2286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400" b="1">
                <a:solidFill>
                  <a:srgbClr val="E5F3EF"/>
                </a:solidFill>
                <a:latin typeface="Aptos"/>
              </a:rPr>
              <a:t>Recommends when/how much to water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51560" y="3959352"/>
            <a:ext cx="5669280" cy="2286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150" b="0">
                <a:solidFill>
                  <a:srgbClr val="AECBC5"/>
                </a:solidFill>
                <a:latin typeface="Aptos"/>
              </a:rPr>
              <a:t>First version can guide the farmer.</a:t>
            </a:r>
          </a:p>
        </p:txBody>
      </p:sp>
      <p:pic>
        <p:nvPicPr>
          <p:cNvPr id="23" name="Picture 22" descr="check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1520" y="4480560"/>
            <a:ext cx="228600" cy="22860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1051560" y="4462272"/>
            <a:ext cx="5120640" cy="2286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400" b="1">
                <a:solidFill>
                  <a:srgbClr val="E5F3EF"/>
                </a:solidFill>
                <a:latin typeface="Aptos"/>
              </a:rPr>
              <a:t>Can later connect to pump/valve control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51560" y="4736592"/>
            <a:ext cx="5669280" cy="2286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150" b="0">
                <a:solidFill>
                  <a:srgbClr val="AECBC5"/>
                </a:solidFill>
                <a:latin typeface="Aptos"/>
              </a:rPr>
              <a:t>Automation comes after field validation.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85800" y="6309360"/>
            <a:ext cx="1463040" cy="292608"/>
          </a:xfrm>
          <a:prstGeom prst="roundRect">
            <a:avLst/>
          </a:prstGeom>
          <a:solidFill>
            <a:srgbClr val="17B8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INITIAL CUSTOMER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800" y="6720840"/>
            <a:ext cx="4389120" cy="2743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600" b="1">
                <a:solidFill>
                  <a:srgbClr val="E1F0EC"/>
                </a:solidFill>
                <a:latin typeface="Aptos"/>
              </a:rPr>
              <a:t>Farms + greenhouse operators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" y="7818120"/>
            <a:ext cx="4572000" cy="2286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000" b="0">
                <a:solidFill>
                  <a:srgbClr val="A7C1BC"/>
                </a:solidFill>
                <a:latin typeface="Aptos"/>
              </a:rPr>
              <a:t>Bakhtiyor Sultanov • Idrock Accelerator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3944600" y="7818120"/>
            <a:ext cx="274320" cy="2286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/>
            <a:r>
              <a:rPr sz="1000" b="0">
                <a:solidFill>
                  <a:srgbClr val="A7C1BC"/>
                </a:solidFill>
                <a:latin typeface="Aptos"/>
              </a:rPr>
              <a:t>04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25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731520"/>
            <a:ext cx="457200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2800" b="1">
                <a:solidFill>
                  <a:srgbClr val="FFFFFF"/>
                </a:solidFill>
                <a:latin typeface="Aptos"/>
              </a:rPr>
              <a:t>How it works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77240" y="2743200"/>
            <a:ext cx="2286000" cy="2011680"/>
          </a:xfrm>
          <a:prstGeom prst="roundRect">
            <a:avLst/>
          </a:prstGeom>
          <a:solidFill>
            <a:srgbClr val="103D42"/>
          </a:solidFill>
          <a:ln w="12700">
            <a:solidFill>
              <a:srgbClr val="1C59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05840" y="3035808"/>
            <a:ext cx="1417320" cy="2286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400" b="1" dirty="0">
                <a:solidFill>
                  <a:srgbClr val="FFFFFF"/>
                </a:solidFill>
                <a:latin typeface="Aptos"/>
              </a:rPr>
              <a:t>Inputs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611880"/>
            <a:ext cx="1874519" cy="7315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400" b="0" dirty="0">
                <a:solidFill>
                  <a:srgbClr val="BFDAD5"/>
                </a:solidFill>
                <a:latin typeface="Aptos"/>
              </a:rPr>
              <a:t>Soil moisture</a:t>
            </a:r>
            <a:r>
              <a:rPr sz="1400" dirty="0"/>
              <a:t/>
            </a:r>
            <a:br>
              <a:rPr sz="1400" dirty="0"/>
            </a:br>
            <a:r>
              <a:rPr sz="1400" b="0" dirty="0">
                <a:solidFill>
                  <a:srgbClr val="BFDAD5"/>
                </a:solidFill>
                <a:latin typeface="Aptos"/>
              </a:rPr>
              <a:t>Weather data</a:t>
            </a:r>
            <a:r>
              <a:rPr sz="1400" dirty="0"/>
              <a:t/>
            </a:r>
            <a:br>
              <a:rPr sz="1400" dirty="0"/>
            </a:br>
            <a:r>
              <a:rPr sz="1400" b="0" dirty="0">
                <a:solidFill>
                  <a:srgbClr val="BFDAD5"/>
                </a:solidFill>
                <a:latin typeface="Aptos"/>
              </a:rPr>
              <a:t>Crop context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91840" y="3410712"/>
            <a:ext cx="228600" cy="4572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4800" b="1">
                <a:solidFill>
                  <a:srgbClr val="17B889"/>
                </a:solidFill>
                <a:latin typeface="Aptos"/>
              </a:rPr>
              <a:t>›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931920" y="2743200"/>
            <a:ext cx="2286000" cy="2011680"/>
          </a:xfrm>
          <a:prstGeom prst="roundRect">
            <a:avLst/>
          </a:prstGeom>
          <a:solidFill>
            <a:srgbClr val="17B889"/>
          </a:solidFill>
          <a:ln w="12700">
            <a:solidFill>
              <a:srgbClr val="1C59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137660" y="3108960"/>
            <a:ext cx="1417320" cy="2286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400" b="1" dirty="0">
                <a:solidFill>
                  <a:srgbClr val="FFFFFF"/>
                </a:solidFill>
                <a:latin typeface="Aptos"/>
              </a:rPr>
              <a:t>AI decision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60520" y="3611880"/>
            <a:ext cx="1874519" cy="7315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400" b="0" dirty="0">
                <a:solidFill>
                  <a:srgbClr val="DFF1EE"/>
                </a:solidFill>
                <a:latin typeface="Aptos"/>
              </a:rPr>
              <a:t>Reinforcement learning</a:t>
            </a:r>
            <a:r>
              <a:rPr sz="1400" dirty="0"/>
              <a:t/>
            </a:r>
            <a:br>
              <a:rPr sz="1400" dirty="0"/>
            </a:br>
            <a:r>
              <a:rPr sz="1400" b="0" dirty="0">
                <a:solidFill>
                  <a:srgbClr val="DFF1EE"/>
                </a:solidFill>
                <a:latin typeface="Aptos"/>
              </a:rPr>
              <a:t>Irrigation policy</a:t>
            </a:r>
            <a:r>
              <a:rPr sz="1400" dirty="0"/>
              <a:t/>
            </a:r>
            <a:br>
              <a:rPr sz="1400" dirty="0"/>
            </a:br>
            <a:r>
              <a:rPr sz="1400" b="0" dirty="0">
                <a:solidFill>
                  <a:srgbClr val="DFF1EE"/>
                </a:solidFill>
                <a:latin typeface="Aptos"/>
              </a:rPr>
              <a:t>Risk-aware action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46520" y="3410712"/>
            <a:ext cx="228600" cy="4572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4800" b="1">
                <a:solidFill>
                  <a:srgbClr val="17B889"/>
                </a:solidFill>
                <a:latin typeface="Aptos"/>
              </a:rPr>
              <a:t>›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086600" y="2743200"/>
            <a:ext cx="2286000" cy="2011680"/>
          </a:xfrm>
          <a:prstGeom prst="roundRect">
            <a:avLst/>
          </a:prstGeom>
          <a:solidFill>
            <a:srgbClr val="103D42"/>
          </a:solidFill>
          <a:ln w="12700">
            <a:solidFill>
              <a:srgbClr val="1C59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4" name="Picture 13" descr="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87768" y="2971800"/>
            <a:ext cx="502920" cy="50292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7863840" y="3035808"/>
            <a:ext cx="1417320" cy="2286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400" b="1">
                <a:solidFill>
                  <a:srgbClr val="FFFFFF"/>
                </a:solidFill>
                <a:latin typeface="Aptos"/>
              </a:rPr>
              <a:t>Recommendation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0" y="3611880"/>
            <a:ext cx="1874519" cy="7315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400" b="0" dirty="0">
                <a:solidFill>
                  <a:srgbClr val="BFDAD5"/>
                </a:solidFill>
                <a:latin typeface="Aptos"/>
              </a:rPr>
              <a:t>When to irrigate</a:t>
            </a:r>
            <a:r>
              <a:rPr sz="1400" dirty="0"/>
              <a:t/>
            </a:r>
            <a:br>
              <a:rPr sz="1400" dirty="0"/>
            </a:br>
            <a:r>
              <a:rPr sz="1400" b="0" dirty="0">
                <a:solidFill>
                  <a:srgbClr val="BFDAD5"/>
                </a:solidFill>
                <a:latin typeface="Aptos"/>
              </a:rPr>
              <a:t>How much water</a:t>
            </a:r>
            <a:r>
              <a:rPr sz="1400" dirty="0"/>
              <a:t/>
            </a:r>
            <a:br>
              <a:rPr sz="1400" dirty="0"/>
            </a:br>
            <a:r>
              <a:rPr sz="1400" b="0" dirty="0">
                <a:solidFill>
                  <a:srgbClr val="BFDAD5"/>
                </a:solidFill>
                <a:latin typeface="Aptos"/>
              </a:rPr>
              <a:t>Pump electricity impact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01200" y="3410712"/>
            <a:ext cx="228600" cy="4572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4800" b="1">
                <a:solidFill>
                  <a:srgbClr val="17B889"/>
                </a:solidFill>
                <a:latin typeface="Aptos"/>
              </a:rPr>
              <a:t>›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241280" y="2743200"/>
            <a:ext cx="2286000" cy="2011680"/>
          </a:xfrm>
          <a:prstGeom prst="roundRect">
            <a:avLst/>
          </a:prstGeom>
          <a:solidFill>
            <a:srgbClr val="103D42"/>
          </a:solidFill>
          <a:ln w="12700">
            <a:solidFill>
              <a:srgbClr val="1C59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9" name="Picture 18" descr="pum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42448" y="2971800"/>
            <a:ext cx="502920" cy="50292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11018520" y="3035808"/>
            <a:ext cx="1417320" cy="2286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400" b="1">
                <a:solidFill>
                  <a:srgbClr val="FFFFFF"/>
                </a:solidFill>
                <a:latin typeface="Aptos"/>
              </a:rPr>
              <a:t>Action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469880" y="3611880"/>
            <a:ext cx="1874519" cy="7315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400" b="0" dirty="0">
                <a:solidFill>
                  <a:srgbClr val="BFDAD5"/>
                </a:solidFill>
                <a:latin typeface="Aptos"/>
              </a:rPr>
              <a:t>Farmer decision</a:t>
            </a:r>
            <a:r>
              <a:rPr sz="1400" dirty="0"/>
              <a:t/>
            </a:r>
            <a:br>
              <a:rPr sz="1400" dirty="0"/>
            </a:br>
            <a:r>
              <a:rPr sz="1400" b="0" dirty="0">
                <a:solidFill>
                  <a:srgbClr val="BFDAD5"/>
                </a:solidFill>
                <a:latin typeface="Aptos"/>
              </a:rPr>
              <a:t>Pump / valve control</a:t>
            </a:r>
            <a:r>
              <a:rPr sz="1400" dirty="0"/>
              <a:t/>
            </a:r>
            <a:br>
              <a:rPr sz="1400" dirty="0"/>
            </a:br>
            <a:r>
              <a:rPr sz="1400" b="0" dirty="0">
                <a:solidFill>
                  <a:srgbClr val="BFDAD5"/>
                </a:solidFill>
                <a:latin typeface="Aptos"/>
              </a:rPr>
              <a:t>Pilot feedback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" y="5623560"/>
            <a:ext cx="1097280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300" b="1">
                <a:solidFill>
                  <a:srgbClr val="D8E8E5"/>
                </a:solidFill>
                <a:latin typeface="Aptos"/>
              </a:rPr>
              <a:t>The first version can be decision-support. Automation comes after field validation.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7818120"/>
            <a:ext cx="4572000" cy="2286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000" b="0">
                <a:solidFill>
                  <a:srgbClr val="A7C1BC"/>
                </a:solidFill>
                <a:latin typeface="Aptos"/>
              </a:rPr>
              <a:t>Bakhtiyor Sultanov • Idrock Accelerator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944600" y="7818120"/>
            <a:ext cx="274320" cy="2286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/>
            <a:r>
              <a:rPr sz="1000" b="0">
                <a:solidFill>
                  <a:srgbClr val="A7C1BC"/>
                </a:solidFill>
                <a:latin typeface="Aptos"/>
              </a:rPr>
              <a:t>05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7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594360"/>
            <a:ext cx="621792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3000" b="1" dirty="0">
                <a:solidFill>
                  <a:srgbClr val="09232B"/>
                </a:solidFill>
                <a:latin typeface="Aptos"/>
              </a:rPr>
              <a:t>What I built so far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43000"/>
            <a:ext cx="274320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900" b="1">
                <a:solidFill>
                  <a:srgbClr val="17B889"/>
                </a:solidFill>
                <a:latin typeface="Aptos"/>
              </a:rPr>
              <a:t>Stage: Prototype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2103120"/>
            <a:ext cx="4297680" cy="1965960"/>
          </a:xfrm>
          <a:prstGeom prst="roundRect">
            <a:avLst/>
          </a:prstGeom>
          <a:solidFill>
            <a:srgbClr val="EAF6F1"/>
          </a:solidFill>
          <a:ln w="12700">
            <a:solidFill>
              <a:srgbClr val="C9E1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a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20240" y="2240280"/>
            <a:ext cx="1325880" cy="13258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" y="4343400"/>
            <a:ext cx="475488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2800" b="1">
                <a:solidFill>
                  <a:srgbClr val="09232B"/>
                </a:solidFill>
                <a:latin typeface="Aptos"/>
              </a:rPr>
              <a:t>AI logic</a:t>
            </a:r>
          </a:p>
        </p:txBody>
      </p:sp>
      <p:grpSp>
        <p:nvGrpSpPr>
          <p:cNvPr id="9" name="Группа 8"/>
          <p:cNvGrpSpPr/>
          <p:nvPr/>
        </p:nvGrpSpPr>
        <p:grpSpPr>
          <a:xfrm>
            <a:off x="640080" y="5969847"/>
            <a:ext cx="5303520" cy="1090506"/>
            <a:chOff x="640080" y="5549618"/>
            <a:chExt cx="5303520" cy="1090506"/>
          </a:xfrm>
        </p:grpSpPr>
        <p:sp>
          <p:nvSpPr>
            <p:cNvPr id="7" name="TextBox 6"/>
            <p:cNvSpPr txBox="1"/>
            <p:nvPr/>
          </p:nvSpPr>
          <p:spPr>
            <a:xfrm>
              <a:off x="640080" y="5549618"/>
              <a:ext cx="5303520" cy="502920"/>
            </a:xfrm>
            <a:prstGeom prst="rect">
              <a:avLst/>
            </a:prstGeom>
            <a:noFill/>
          </p:spPr>
          <p:txBody>
            <a:bodyPr wrap="square">
              <a:noAutofit/>
            </a:bodyPr>
            <a:lstStyle/>
            <a:p>
              <a:r>
                <a:rPr sz="1600" b="0" dirty="0">
                  <a:solidFill>
                    <a:srgbClr val="466260"/>
                  </a:solidFill>
                  <a:latin typeface="Aptos"/>
                </a:rPr>
                <a:t>Irrigation decision-making with reinforcement learning</a:t>
              </a:r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640080" y="5862884"/>
              <a:ext cx="5029200" cy="777240"/>
            </a:xfrm>
            <a:prstGeom prst="rect">
              <a:avLst/>
            </a:prstGeom>
            <a:noFill/>
          </p:spPr>
          <p:txBody>
            <a:bodyPr wrap="square">
              <a:noAutofit/>
            </a:bodyPr>
            <a:lstStyle/>
            <a:p>
              <a:r>
                <a:rPr sz="1350" b="0">
                  <a:solidFill>
                    <a:srgbClr val="466260"/>
                  </a:solidFill>
                  <a:latin typeface="Aptos"/>
                </a:rPr>
                <a:t>I am building the core decision logic that learns when and how much to irrigate from soil and weather signals.</a:t>
              </a:r>
            </a:p>
          </p:txBody>
        </p:sp>
      </p:grpSp>
      <p:sp>
        <p:nvSpPr>
          <p:cNvPr id="10" name="TextBox 9"/>
          <p:cNvSpPr txBox="1"/>
          <p:nvPr/>
        </p:nvSpPr>
        <p:spPr>
          <a:xfrm>
            <a:off x="640080" y="7818120"/>
            <a:ext cx="4572000" cy="2286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000" b="0">
                <a:solidFill>
                  <a:srgbClr val="A7C1BC"/>
                </a:solidFill>
                <a:latin typeface="Aptos"/>
              </a:rPr>
              <a:t>Bakhtiyor Sultanov • Idrock Accelerator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944600" y="7818120"/>
            <a:ext cx="274320" cy="2286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/>
            <a:r>
              <a:rPr sz="1000" b="0">
                <a:solidFill>
                  <a:srgbClr val="A7C1BC"/>
                </a:solidFill>
                <a:latin typeface="Aptos"/>
              </a:rPr>
              <a:t>06</a:t>
            </a:r>
          </a:p>
        </p:txBody>
      </p:sp>
      <p:grpSp>
        <p:nvGrpSpPr>
          <p:cNvPr id="16" name="Группа 15"/>
          <p:cNvGrpSpPr/>
          <p:nvPr/>
        </p:nvGrpSpPr>
        <p:grpSpPr>
          <a:xfrm>
            <a:off x="6924040" y="275907"/>
            <a:ext cx="6908800" cy="7770813"/>
            <a:chOff x="6924040" y="594360"/>
            <a:chExt cx="6908800" cy="7770813"/>
          </a:xfrm>
        </p:grpSpPr>
        <p:pic>
          <p:nvPicPr>
            <p:cNvPr id="14" name="Рисунок 13"/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924040" y="594360"/>
              <a:ext cx="6908800" cy="3886200"/>
            </a:xfrm>
            <a:prstGeom prst="rect">
              <a:avLst/>
            </a:prstGeom>
          </p:spPr>
        </p:pic>
        <p:pic>
          <p:nvPicPr>
            <p:cNvPr id="15" name="Рисунок 14"/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924040" y="4480560"/>
              <a:ext cx="6908800" cy="3884613"/>
            </a:xfrm>
            <a:prstGeom prst="rect">
              <a:avLst/>
            </a:prstGeom>
          </p:spPr>
        </p:pic>
      </p:grpSp>
      <p:grpSp>
        <p:nvGrpSpPr>
          <p:cNvPr id="17" name="Группа 16"/>
          <p:cNvGrpSpPr/>
          <p:nvPr/>
        </p:nvGrpSpPr>
        <p:grpSpPr>
          <a:xfrm>
            <a:off x="640080" y="4953524"/>
            <a:ext cx="4754880" cy="812559"/>
            <a:chOff x="640080" y="4800600"/>
            <a:chExt cx="4754880" cy="812559"/>
          </a:xfrm>
        </p:grpSpPr>
        <p:sp>
          <p:nvSpPr>
            <p:cNvPr id="12" name="TextBox 11"/>
            <p:cNvSpPr txBox="1"/>
            <p:nvPr/>
          </p:nvSpPr>
          <p:spPr>
            <a:xfrm>
              <a:off x="640080" y="4800600"/>
              <a:ext cx="4754880" cy="411480"/>
            </a:xfrm>
            <a:prstGeom prst="rect">
              <a:avLst/>
            </a:prstGeom>
            <a:noFill/>
          </p:spPr>
          <p:txBody>
            <a:bodyPr wrap="square">
              <a:noAutofit/>
            </a:bodyPr>
            <a:lstStyle/>
            <a:p>
              <a:r>
                <a:rPr lang="en-US" sz="2000" b="1" dirty="0" smtClean="0">
                  <a:solidFill>
                    <a:srgbClr val="09232B"/>
                  </a:solidFill>
                  <a:latin typeface="Aptos"/>
                </a:rPr>
                <a:t>GitHub</a:t>
              </a:r>
              <a:r>
                <a:rPr lang="en-US" sz="2000" b="1" dirty="0">
                  <a:solidFill>
                    <a:srgbClr val="09232B"/>
                  </a:solidFill>
                  <a:latin typeface="Aptos"/>
                </a:rPr>
                <a:t>: </a:t>
              </a:r>
              <a:r>
                <a:rPr lang="en-US" sz="2000" b="1" dirty="0">
                  <a:solidFill>
                    <a:srgbClr val="09232B"/>
                  </a:solidFill>
                  <a:latin typeface="Aptos"/>
                  <a:hlinkClick r:id="rId5"/>
                </a:rPr>
                <a:t>https://</a:t>
              </a:r>
              <a:r>
                <a:rPr lang="en-US" sz="2000" b="1" dirty="0" smtClean="0">
                  <a:solidFill>
                    <a:srgbClr val="09232B"/>
                  </a:solidFill>
                  <a:latin typeface="Aptos"/>
                  <a:hlinkClick r:id="rId5"/>
                </a:rPr>
                <a:t>surl.li/cifelp</a:t>
              </a:r>
              <a:endParaRPr lang="en-US" sz="2000" b="1" dirty="0" smtClean="0">
                <a:solidFill>
                  <a:srgbClr val="09232B"/>
                </a:solidFill>
                <a:latin typeface="Aptos"/>
              </a:endParaRPr>
            </a:p>
          </p:txBody>
        </p:sp>
        <p:sp>
          <p:nvSpPr>
            <p:cNvPr id="13" name="Прямоугольник 12"/>
            <p:cNvSpPr/>
            <p:nvPr/>
          </p:nvSpPr>
          <p:spPr>
            <a:xfrm>
              <a:off x="640080" y="5213049"/>
              <a:ext cx="4523995" cy="4001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2000" b="1" dirty="0" smtClean="0">
                  <a:solidFill>
                    <a:srgbClr val="09232B"/>
                  </a:solidFill>
                  <a:latin typeface="Aptos"/>
                </a:rPr>
                <a:t>Google</a:t>
              </a:r>
              <a:r>
                <a:rPr lang="ru-RU" sz="2000" b="1" dirty="0">
                  <a:solidFill>
                    <a:srgbClr val="09232B"/>
                  </a:solidFill>
                  <a:latin typeface="Aptos"/>
                </a:rPr>
                <a:t>_</a:t>
              </a:r>
              <a:r>
                <a:rPr lang="en-US" sz="2000" b="1" dirty="0" smtClean="0">
                  <a:solidFill>
                    <a:srgbClr val="09232B"/>
                  </a:solidFill>
                  <a:latin typeface="Aptos"/>
                </a:rPr>
                <a:t>Collab</a:t>
              </a:r>
              <a:r>
                <a:rPr lang="en-US" sz="2000" b="1" dirty="0">
                  <a:solidFill>
                    <a:srgbClr val="09232B"/>
                  </a:solidFill>
                  <a:latin typeface="Aptos"/>
                </a:rPr>
                <a:t>: </a:t>
              </a:r>
              <a:r>
                <a:rPr lang="en-US" sz="2000" b="1" u="sng" dirty="0">
                  <a:solidFill>
                    <a:srgbClr val="0000FF"/>
                  </a:solidFill>
                  <a:latin typeface="Aptos"/>
                </a:rPr>
                <a:t>https://surl.li/dlrkyn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7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594360"/>
            <a:ext cx="621792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3000" b="1">
                <a:solidFill>
                  <a:srgbClr val="09232B"/>
                </a:solidFill>
                <a:latin typeface="Aptos"/>
              </a:rPr>
              <a:t>What I built so far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43000"/>
            <a:ext cx="274320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900" b="1">
                <a:solidFill>
                  <a:srgbClr val="17B889"/>
                </a:solidFill>
                <a:latin typeface="Aptos"/>
              </a:rPr>
              <a:t>Stage: Prototype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965960"/>
            <a:ext cx="4297680" cy="1965960"/>
          </a:xfrm>
          <a:prstGeom prst="roundRect">
            <a:avLst/>
          </a:prstGeom>
          <a:solidFill>
            <a:srgbClr val="EAF6F1"/>
          </a:solidFill>
          <a:ln w="12700">
            <a:solidFill>
              <a:srgbClr val="C9E1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sens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20240" y="2240280"/>
            <a:ext cx="1325880" cy="13258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" y="4343400"/>
            <a:ext cx="475488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2800" b="1">
                <a:solidFill>
                  <a:srgbClr val="09232B"/>
                </a:solidFill>
                <a:latin typeface="Aptos"/>
              </a:rPr>
              <a:t>IoT architecture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4892040"/>
            <a:ext cx="5303520" cy="5029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600" b="0">
                <a:solidFill>
                  <a:srgbClr val="466260"/>
                </a:solidFill>
                <a:latin typeface="Aptos"/>
              </a:rPr>
              <a:t>Soil sensor → model → pump/valve control design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5806440"/>
            <a:ext cx="502920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350" b="0">
                <a:solidFill>
                  <a:srgbClr val="466260"/>
                </a:solidFill>
                <a:latin typeface="Aptos"/>
              </a:rPr>
              <a:t>I designed the system architecture that connects field sensors, the AI model, and future pump/valve control.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7818120"/>
            <a:ext cx="4572000" cy="2286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000" b="0">
                <a:solidFill>
                  <a:srgbClr val="A7C1BC"/>
                </a:solidFill>
                <a:latin typeface="Aptos"/>
              </a:rPr>
              <a:t>Bakhtiyor Sultanov • Idrock Accelerator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944600" y="7818120"/>
            <a:ext cx="274320" cy="2286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/>
            <a:r>
              <a:rPr sz="1000" b="0">
                <a:solidFill>
                  <a:srgbClr val="A7C1BC"/>
                </a:solidFill>
                <a:latin typeface="Aptos"/>
              </a:rPr>
              <a:t>07</a:t>
            </a:r>
          </a:p>
        </p:txBody>
      </p:sp>
      <p:grpSp>
        <p:nvGrpSpPr>
          <p:cNvPr id="12" name="Группа 11"/>
          <p:cNvGrpSpPr/>
          <p:nvPr/>
        </p:nvGrpSpPr>
        <p:grpSpPr>
          <a:xfrm>
            <a:off x="6857999" y="352360"/>
            <a:ext cx="7002379" cy="7465760"/>
            <a:chOff x="6857999" y="352360"/>
            <a:chExt cx="7002379" cy="7465760"/>
          </a:xfrm>
        </p:grpSpPr>
        <p:pic>
          <p:nvPicPr>
            <p:cNvPr id="13" name="Рисунок 12"/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857999" y="352360"/>
              <a:ext cx="7002379" cy="7465760"/>
            </a:xfrm>
            <a:prstGeom prst="roundRect">
              <a:avLst/>
            </a:prstGeom>
            <a:effectLst/>
          </p:spPr>
        </p:pic>
        <p:pic>
          <p:nvPicPr>
            <p:cNvPr id="14" name="Рисунок 13"/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063835" y="812132"/>
              <a:ext cx="930622" cy="948972"/>
            </a:xfrm>
            <a:prstGeom prst="rect">
              <a:avLst/>
            </a:prstGeom>
          </p:spPr>
        </p:pic>
        <p:sp>
          <p:nvSpPr>
            <p:cNvPr id="15" name="TextBox 14"/>
            <p:cNvSpPr txBox="1"/>
            <p:nvPr/>
          </p:nvSpPr>
          <p:spPr>
            <a:xfrm>
              <a:off x="7274705" y="3335327"/>
              <a:ext cx="199990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u="sng" dirty="0" smtClean="0">
                  <a:solidFill>
                    <a:schemeClr val="tx2">
                      <a:lumMod val="75000"/>
                    </a:schemeClr>
                  </a:solidFill>
                  <a:latin typeface="Arial Rounded MT Bold" panose="020F0704030504030204" pitchFamily="34" charset="0"/>
                </a:rPr>
                <a:t>Water Pump</a:t>
              </a:r>
              <a:endParaRPr lang="en-US" sz="2400" u="sng" dirty="0">
                <a:solidFill>
                  <a:schemeClr val="tx2">
                    <a:lumMod val="75000"/>
                  </a:schemeClr>
                </a:solidFill>
                <a:latin typeface="Arial Rounded MT Bold" panose="020F0704030504030204" pitchFamily="34" charset="0"/>
              </a:endParaRPr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7741415" y="5995005"/>
              <a:ext cx="176683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u="sng" dirty="0" smtClean="0">
                  <a:solidFill>
                    <a:schemeClr val="tx2">
                      <a:lumMod val="75000"/>
                    </a:schemeClr>
                  </a:solidFill>
                  <a:latin typeface="Arial Rounded MT Bold" panose="020F0704030504030204" pitchFamily="34" charset="0"/>
                </a:rPr>
                <a:t>Light Sensor</a:t>
              </a:r>
              <a:endParaRPr lang="en-US" sz="2000" u="sng" dirty="0">
                <a:solidFill>
                  <a:schemeClr val="tx2">
                    <a:lumMod val="75000"/>
                  </a:schemeClr>
                </a:solidFill>
                <a:latin typeface="Arial Rounded MT Bold" panose="020F0704030504030204" pitchFamily="34" charset="0"/>
              </a:endParaRPr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10063835" y="7315516"/>
              <a:ext cx="1099788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 smtClean="0">
                  <a:solidFill>
                    <a:schemeClr val="tx2">
                      <a:lumMod val="75000"/>
                    </a:schemeClr>
                  </a:solidFill>
                  <a:latin typeface="Arial Rounded MT Bold" panose="020F0704030504030204" pitchFamily="34" charset="0"/>
                </a:rPr>
                <a:t>Display</a:t>
              </a:r>
              <a:endParaRPr lang="en-US" sz="2000" dirty="0">
                <a:solidFill>
                  <a:schemeClr val="tx2">
                    <a:lumMod val="75000"/>
                  </a:schemeClr>
                </a:solidFill>
                <a:latin typeface="Arial Rounded MT Bold" panose="020F0704030504030204" pitchFamily="34" charset="0"/>
              </a:endParaRPr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11736947" y="5172201"/>
              <a:ext cx="1718034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u="sng" dirty="0" smtClean="0">
                  <a:solidFill>
                    <a:schemeClr val="tx2">
                      <a:lumMod val="75000"/>
                    </a:schemeClr>
                  </a:solidFill>
                  <a:latin typeface="Arial Rounded MT Bold" panose="020F0704030504030204" pitchFamily="34" charset="0"/>
                </a:rPr>
                <a:t>Soil Temperature </a:t>
              </a:r>
            </a:p>
            <a:p>
              <a:r>
                <a:rPr lang="en-US" sz="1400" u="sng" dirty="0" smtClean="0">
                  <a:solidFill>
                    <a:schemeClr val="tx2">
                      <a:lumMod val="75000"/>
                    </a:schemeClr>
                  </a:solidFill>
                  <a:latin typeface="Arial Rounded MT Bold" panose="020F0704030504030204" pitchFamily="34" charset="0"/>
                </a:rPr>
                <a:t>Sensor</a:t>
              </a:r>
              <a:endParaRPr lang="en-US" sz="1400" u="sng" dirty="0">
                <a:solidFill>
                  <a:schemeClr val="tx2">
                    <a:lumMod val="75000"/>
                  </a:schemeClr>
                </a:solidFill>
                <a:latin typeface="Arial Rounded MT Bold" panose="020F0704030504030204" pitchFamily="34" charset="0"/>
              </a:endParaRPr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11738322" y="3049502"/>
              <a:ext cx="1777923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u="sng" dirty="0" smtClean="0">
                  <a:solidFill>
                    <a:schemeClr val="tx2">
                      <a:lumMod val="75000"/>
                    </a:schemeClr>
                  </a:solidFill>
                  <a:latin typeface="Arial Rounded MT Bold" panose="020F0704030504030204" pitchFamily="34" charset="0"/>
                </a:rPr>
                <a:t>Air Temp/Humid</a:t>
              </a:r>
              <a:endParaRPr lang="en-US" sz="1600" u="sng" dirty="0">
                <a:solidFill>
                  <a:schemeClr val="tx2">
                    <a:lumMod val="75000"/>
                  </a:schemeClr>
                </a:solidFill>
                <a:latin typeface="Arial Rounded MT Bold" panose="020F0704030504030204" pitchFamily="34" charset="0"/>
              </a:endParaRPr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8634396" y="398591"/>
              <a:ext cx="3789499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u="sng" dirty="0" smtClean="0">
                  <a:solidFill>
                    <a:schemeClr val="tx2">
                      <a:lumMod val="75000"/>
                    </a:schemeClr>
                  </a:solidFill>
                  <a:latin typeface="Arial Rounded MT Bold" panose="020F0704030504030204" pitchFamily="34" charset="0"/>
                </a:rPr>
                <a:t>Soil Moisture Sensor (Coming soon!)</a:t>
              </a:r>
              <a:endParaRPr lang="en-US" sz="1600" u="sng" dirty="0">
                <a:solidFill>
                  <a:schemeClr val="tx2">
                    <a:lumMod val="75000"/>
                  </a:schemeClr>
                </a:solidFill>
                <a:latin typeface="Arial Rounded MT Bold" panose="020F0704030504030204" pitchFamily="34" charset="0"/>
              </a:endParaRPr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9274611" y="1998070"/>
              <a:ext cx="2840842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700" u="sng" dirty="0" smtClean="0">
                  <a:solidFill>
                    <a:schemeClr val="tx2">
                      <a:lumMod val="75000"/>
                    </a:schemeClr>
                  </a:solidFill>
                  <a:latin typeface="Arial Rounded MT Bold" panose="020F0704030504030204" pitchFamily="34" charset="0"/>
                </a:rPr>
                <a:t>ESP32 (N16R8)</a:t>
              </a:r>
              <a:endParaRPr lang="en-US" sz="2700" u="sng" dirty="0">
                <a:solidFill>
                  <a:schemeClr val="tx2">
                    <a:lumMod val="75000"/>
                  </a:schemeClr>
                </a:solidFill>
                <a:latin typeface="Arial Rounded MT Bold" panose="020F0704030504030204" pitchFamily="34" charset="0"/>
              </a:endParaRPr>
            </a:p>
          </p:txBody>
        </p:sp>
        <p:cxnSp>
          <p:nvCxnSpPr>
            <p:cNvPr id="22" name="Прямая со стрелкой 21"/>
            <p:cNvCxnSpPr/>
            <p:nvPr/>
          </p:nvCxnSpPr>
          <p:spPr>
            <a:xfrm flipH="1" flipV="1">
              <a:off x="8624830" y="2521290"/>
              <a:ext cx="1229033" cy="113631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3" name="Прямая со стрелкой 22"/>
            <p:cNvCxnSpPr/>
            <p:nvPr/>
          </p:nvCxnSpPr>
          <p:spPr>
            <a:xfrm flipH="1">
              <a:off x="8832162" y="4305435"/>
              <a:ext cx="1134136" cy="55326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4" name="Прямая со стрелкой 23"/>
            <p:cNvCxnSpPr/>
            <p:nvPr/>
          </p:nvCxnSpPr>
          <p:spPr>
            <a:xfrm>
              <a:off x="9865264" y="4858695"/>
              <a:ext cx="748465" cy="1336365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5" name="Прямая со стрелкой 24"/>
            <p:cNvCxnSpPr/>
            <p:nvPr/>
          </p:nvCxnSpPr>
          <p:spPr>
            <a:xfrm>
              <a:off x="11163623" y="5143500"/>
              <a:ext cx="1780217" cy="146596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6" name="Прямая со стрелкой 25"/>
            <p:cNvCxnSpPr/>
            <p:nvPr/>
          </p:nvCxnSpPr>
          <p:spPr>
            <a:xfrm flipV="1">
              <a:off x="11187053" y="2423793"/>
              <a:ext cx="928400" cy="1805668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7" name="Прямая со стрелкой 26"/>
            <p:cNvCxnSpPr/>
            <p:nvPr/>
          </p:nvCxnSpPr>
          <p:spPr>
            <a:xfrm flipH="1" flipV="1">
              <a:off x="10859911" y="1761104"/>
              <a:ext cx="344078" cy="1120456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7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594360"/>
            <a:ext cx="621792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3000" b="1">
                <a:solidFill>
                  <a:srgbClr val="09232B"/>
                </a:solidFill>
                <a:latin typeface="Aptos"/>
              </a:rPr>
              <a:t>What I built so far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43000"/>
            <a:ext cx="274320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900" b="1">
                <a:solidFill>
                  <a:srgbClr val="17B889"/>
                </a:solidFill>
                <a:latin typeface="Aptos"/>
              </a:rPr>
              <a:t>Stage: Prototype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965960"/>
            <a:ext cx="4297680" cy="1965960"/>
          </a:xfrm>
          <a:prstGeom prst="roundRect">
            <a:avLst/>
          </a:prstGeom>
          <a:solidFill>
            <a:srgbClr val="EAF6F1"/>
          </a:solidFill>
          <a:ln w="12700">
            <a:solidFill>
              <a:srgbClr val="C9E1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20240" y="2240280"/>
            <a:ext cx="1325880" cy="13258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" y="4343400"/>
            <a:ext cx="475488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2800" b="1">
                <a:solidFill>
                  <a:srgbClr val="09232B"/>
                </a:solidFill>
                <a:latin typeface="Aptos"/>
              </a:rPr>
              <a:t>Simulation work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4892040"/>
            <a:ext cx="5303520" cy="5029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600" b="0">
                <a:solidFill>
                  <a:srgbClr val="466260"/>
                </a:solidFill>
                <a:latin typeface="Aptos"/>
              </a:rPr>
              <a:t>AquaCrop / crop-water environment for testing policies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5806440"/>
            <a:ext cx="502920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350" b="0">
                <a:solidFill>
                  <a:srgbClr val="466260"/>
                </a:solidFill>
                <a:latin typeface="Aptos"/>
              </a:rPr>
              <a:t>I use simulation to test irrigation policies before risking real crops or wasting real water.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7818120"/>
            <a:ext cx="4572000" cy="2286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000" b="0">
                <a:solidFill>
                  <a:srgbClr val="A7C1BC"/>
                </a:solidFill>
                <a:latin typeface="Aptos"/>
              </a:rPr>
              <a:t>Bakhtiyor Sultanov • Idrock Accelerator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944600" y="7818120"/>
            <a:ext cx="274320" cy="2286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/>
            <a:r>
              <a:rPr sz="1000" b="0">
                <a:solidFill>
                  <a:srgbClr val="A7C1BC"/>
                </a:solidFill>
                <a:latin typeface="Aptos"/>
              </a:rPr>
              <a:t>08</a:t>
            </a:r>
          </a:p>
        </p:txBody>
      </p:sp>
      <p:pic>
        <p:nvPicPr>
          <p:cNvPr id="52" name="Рисунок 5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62253" y="4034898"/>
            <a:ext cx="4382347" cy="3543083"/>
          </a:xfrm>
          <a:prstGeom prst="rect">
            <a:avLst/>
          </a:prstGeom>
        </p:spPr>
      </p:pic>
      <p:pic>
        <p:nvPicPr>
          <p:cNvPr id="53" name="Рисунок 52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16320" y="188684"/>
            <a:ext cx="4765021" cy="3554552"/>
          </a:xfrm>
          <a:prstGeom prst="rect">
            <a:avLst/>
          </a:prstGeom>
        </p:spPr>
      </p:pic>
      <p:pic>
        <p:nvPicPr>
          <p:cNvPr id="54" name="Рисунок 53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957756" y="241746"/>
            <a:ext cx="1986844" cy="3551322"/>
          </a:xfrm>
          <a:prstGeom prst="rect">
            <a:avLst/>
          </a:prstGeom>
        </p:spPr>
      </p:pic>
      <p:pic>
        <p:nvPicPr>
          <p:cNvPr id="55" name="Рисунок 5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16320" y="4058894"/>
            <a:ext cx="2639315" cy="3519087"/>
          </a:xfrm>
          <a:prstGeom prst="rect">
            <a:avLst/>
          </a:prstGeom>
        </p:spPr>
      </p:pic>
      <p:sp>
        <p:nvSpPr>
          <p:cNvPr id="56" name="Прямоугольник 55"/>
          <p:cNvSpPr/>
          <p:nvPr/>
        </p:nvSpPr>
        <p:spPr>
          <a:xfrm>
            <a:off x="6116320" y="188684"/>
            <a:ext cx="7828280" cy="738929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25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777240"/>
            <a:ext cx="457200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3000" b="1">
                <a:solidFill>
                  <a:srgbClr val="FFFFFF"/>
                </a:solidFill>
                <a:latin typeface="Aptos"/>
              </a:rPr>
              <a:t>60-day goal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25880"/>
            <a:ext cx="6675120" cy="365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600" b="1">
                <a:solidFill>
                  <a:srgbClr val="DCEBE8"/>
                </a:solidFill>
                <a:latin typeface="Aptos"/>
              </a:rPr>
              <a:t>Move from prototype to a testable MVP with real customer validation.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286000"/>
            <a:ext cx="274320" cy="2743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600" b="1">
                <a:solidFill>
                  <a:srgbClr val="17B889"/>
                </a:solidFill>
                <a:latin typeface="Aptos"/>
              </a:rPr>
              <a:t>1</a:t>
            </a:r>
          </a:p>
        </p:txBody>
      </p:sp>
      <p:pic>
        <p:nvPicPr>
          <p:cNvPr id="5" name="Picture 4" descr="us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7320" y="2148840"/>
            <a:ext cx="502920" cy="5029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103120" y="2267712"/>
            <a:ext cx="667512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400" b="1">
                <a:solidFill>
                  <a:srgbClr val="E6F3EF"/>
                </a:solidFill>
                <a:latin typeface="Aptos"/>
              </a:rPr>
              <a:t>Interview 10–15 farms / greenhouse operators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291840"/>
            <a:ext cx="274320" cy="2743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600" b="1">
                <a:solidFill>
                  <a:srgbClr val="17B889"/>
                </a:solidFill>
                <a:latin typeface="Aptos"/>
              </a:rPr>
              <a:t>2</a:t>
            </a:r>
          </a:p>
        </p:txBody>
      </p:sp>
      <p:pic>
        <p:nvPicPr>
          <p:cNvPr id="8" name="Picture 7" descr="char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17320" y="3154680"/>
            <a:ext cx="502920" cy="50292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103120" y="3273552"/>
            <a:ext cx="667512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400" b="1">
                <a:solidFill>
                  <a:srgbClr val="E6F3EF"/>
                </a:solidFill>
                <a:latin typeface="Aptos"/>
              </a:rPr>
              <a:t>Build MVP dashboard + irrigation recommendation flow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297680"/>
            <a:ext cx="274320" cy="2743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600" b="1">
                <a:solidFill>
                  <a:srgbClr val="17B889"/>
                </a:solidFill>
                <a:latin typeface="Aptos"/>
              </a:rPr>
              <a:t>3</a:t>
            </a:r>
          </a:p>
        </p:txBody>
      </p:sp>
      <p:pic>
        <p:nvPicPr>
          <p:cNvPr id="11" name="Picture 10" descr="senso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17320" y="4160520"/>
            <a:ext cx="502920" cy="50292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2103120" y="4279392"/>
            <a:ext cx="667512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400" b="1">
                <a:solidFill>
                  <a:srgbClr val="E6F3EF"/>
                </a:solidFill>
                <a:latin typeface="Aptos"/>
              </a:rPr>
              <a:t>Run first controlled tests with soil/weather input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5303520"/>
            <a:ext cx="274320" cy="2743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600" b="1">
                <a:solidFill>
                  <a:srgbClr val="17B889"/>
                </a:solidFill>
                <a:latin typeface="Aptos"/>
              </a:rPr>
              <a:t>4</a:t>
            </a:r>
          </a:p>
        </p:txBody>
      </p:sp>
      <p:pic>
        <p:nvPicPr>
          <p:cNvPr id="14" name="Picture 13" descr="wate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17320" y="5166360"/>
            <a:ext cx="502920" cy="50292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2103120" y="5285232"/>
            <a:ext cx="667512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400" b="1">
                <a:solidFill>
                  <a:srgbClr val="E6F3EF"/>
                </a:solidFill>
                <a:latin typeface="Aptos"/>
              </a:rPr>
              <a:t>Design a credible method to measure water + electricity savings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601200" y="1463040"/>
            <a:ext cx="4114800" cy="4754880"/>
          </a:xfrm>
          <a:prstGeom prst="roundRect">
            <a:avLst/>
          </a:prstGeom>
          <a:solidFill>
            <a:srgbClr val="0A3033"/>
          </a:solidFill>
          <a:ln w="12700">
            <a:solidFill>
              <a:srgbClr val="145A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7" name="Picture 16" descr="rocket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058400" y="2057400"/>
            <a:ext cx="1097280" cy="1097280"/>
          </a:xfrm>
          <a:prstGeom prst="rect">
            <a:avLst/>
          </a:prstGeom>
        </p:spPr>
      </p:pic>
      <p:pic>
        <p:nvPicPr>
          <p:cNvPr id="18" name="Picture 17" descr="handshak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795760" y="2057400"/>
            <a:ext cx="1097280" cy="1097280"/>
          </a:xfrm>
          <a:prstGeom prst="rect">
            <a:avLst/>
          </a:prstGeom>
        </p:spPr>
      </p:pic>
      <p:pic>
        <p:nvPicPr>
          <p:cNvPr id="19" name="Picture 18" descr="check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927080" y="4114800"/>
            <a:ext cx="1280160" cy="128016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10012680" y="5715000"/>
            <a:ext cx="3474720" cy="6858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/>
            <a:r>
              <a:rPr sz="1500" b="1">
                <a:solidFill>
                  <a:srgbClr val="E1F0EC"/>
                </a:solidFill>
                <a:latin typeface="Aptos"/>
              </a:rPr>
              <a:t>Goal after 60 days:</a:t>
            </a:r>
            <a:r>
              <a:t/>
            </a:r>
            <a:br/>
            <a:r>
              <a:rPr sz="1500" b="1">
                <a:solidFill>
                  <a:srgbClr val="E1F0EC"/>
                </a:solidFill>
                <a:latin typeface="Aptos"/>
              </a:rPr>
              <a:t>first validated MVP + clear pilot path.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7818120"/>
            <a:ext cx="4572000" cy="2286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000" b="0">
                <a:solidFill>
                  <a:srgbClr val="A7C1BC"/>
                </a:solidFill>
                <a:latin typeface="Aptos"/>
              </a:rPr>
              <a:t>Bakhtiyor Sultanov • Idrock Accelerator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944600" y="7818120"/>
            <a:ext cx="274320" cy="2286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/>
            <a:r>
              <a:rPr sz="1000" b="0">
                <a:solidFill>
                  <a:srgbClr val="A7C1BC"/>
                </a:solidFill>
                <a:latin typeface="Aptos"/>
              </a:rPr>
              <a:t>10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25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777240"/>
            <a:ext cx="640080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3000" b="1">
                <a:solidFill>
                  <a:srgbClr val="FFFFFF"/>
                </a:solidFill>
                <a:latin typeface="Aptos"/>
              </a:rPr>
              <a:t>What I need from Idrock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25880"/>
            <a:ext cx="777240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500" b="1">
                <a:solidFill>
                  <a:srgbClr val="CFE3DF"/>
                </a:solidFill>
                <a:latin typeface="Aptos"/>
              </a:rPr>
              <a:t>The product risk is not only technical. The biggest next step is customer validation.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331720"/>
            <a:ext cx="5577840" cy="1417320"/>
          </a:xfrm>
          <a:prstGeom prst="roundRect">
            <a:avLst/>
          </a:prstGeom>
          <a:solidFill>
            <a:srgbClr val="0A3033"/>
          </a:solidFill>
          <a:ln w="12700">
            <a:solidFill>
              <a:srgbClr val="164A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handshak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" y="2651760"/>
            <a:ext cx="640080" cy="6400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874519" y="2633472"/>
            <a:ext cx="4389120" cy="25603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500" b="1">
                <a:solidFill>
                  <a:srgbClr val="17B889"/>
                </a:solidFill>
                <a:latin typeface="Aptos"/>
              </a:rPr>
              <a:t>Pilot connections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74519" y="2990087"/>
            <a:ext cx="4206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150" b="0">
                <a:solidFill>
                  <a:srgbClr val="CFE3DF"/>
                </a:solidFill>
                <a:latin typeface="Aptos"/>
              </a:rPr>
              <a:t>Introductions to farms and greenhouse operators.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23759" y="2331720"/>
            <a:ext cx="5577840" cy="1417320"/>
          </a:xfrm>
          <a:prstGeom prst="roundRect">
            <a:avLst/>
          </a:prstGeom>
          <a:solidFill>
            <a:srgbClr val="0A3033"/>
          </a:solidFill>
          <a:ln w="12700">
            <a:solidFill>
              <a:srgbClr val="164A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far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43800" y="2651760"/>
            <a:ext cx="640080" cy="64008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366759" y="2633472"/>
            <a:ext cx="4389120" cy="25603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500" b="1">
                <a:solidFill>
                  <a:srgbClr val="17B889"/>
                </a:solidFill>
                <a:latin typeface="Aptos"/>
              </a:rPr>
              <a:t>Agriculture mentors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66759" y="2990087"/>
            <a:ext cx="4206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150" b="0">
                <a:solidFill>
                  <a:srgbClr val="CFE3DF"/>
                </a:solidFill>
                <a:latin typeface="Aptos"/>
              </a:rPr>
              <a:t>Feedback from people who understand irrigation in Uzbekistan.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4343400"/>
            <a:ext cx="5577840" cy="1417320"/>
          </a:xfrm>
          <a:prstGeom prst="roundRect">
            <a:avLst/>
          </a:prstGeom>
          <a:solidFill>
            <a:srgbClr val="0A3033"/>
          </a:solidFill>
          <a:ln w="12700">
            <a:solidFill>
              <a:srgbClr val="164A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3" name="Picture 12" descr="char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1560" y="4663440"/>
            <a:ext cx="640080" cy="64008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874519" y="4645152"/>
            <a:ext cx="4389120" cy="25603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500" b="1">
                <a:solidFill>
                  <a:srgbClr val="17B889"/>
                </a:solidFill>
                <a:latin typeface="Aptos"/>
              </a:rPr>
              <a:t>Measurement design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74519" y="5001768"/>
            <a:ext cx="4206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150" b="0">
                <a:solidFill>
                  <a:srgbClr val="CFE3DF"/>
                </a:solidFill>
                <a:latin typeface="Aptos"/>
              </a:rPr>
              <a:t>How to prove water and electricity savings credibly.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223759" y="4343400"/>
            <a:ext cx="5577840" cy="1417320"/>
          </a:xfrm>
          <a:prstGeom prst="roundRect">
            <a:avLst/>
          </a:prstGeom>
          <a:solidFill>
            <a:srgbClr val="0A3033"/>
          </a:solidFill>
          <a:ln w="12700">
            <a:solidFill>
              <a:srgbClr val="164A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7" name="Picture 16" descr="money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43800" y="4663440"/>
            <a:ext cx="640080" cy="64008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8366759" y="4645152"/>
            <a:ext cx="4389120" cy="25603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500" b="1">
                <a:solidFill>
                  <a:srgbClr val="17B889"/>
                </a:solidFill>
                <a:latin typeface="Aptos"/>
              </a:rPr>
              <a:t>Business model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66759" y="5001768"/>
            <a:ext cx="4206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150" b="0">
                <a:solidFill>
                  <a:srgbClr val="CFE3DF"/>
                </a:solidFill>
                <a:latin typeface="Aptos"/>
              </a:rPr>
              <a:t>Pricing, first customer segment, and go-to-market.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6812280"/>
            <a:ext cx="731520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500" b="1">
                <a:solidFill>
                  <a:srgbClr val="E6F3EF"/>
                </a:solidFill>
                <a:latin typeface="Aptos"/>
              </a:rPr>
              <a:t>Goal after 60 days: first validated MVP + clear pilot path.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7818120"/>
            <a:ext cx="4572000" cy="2286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000" b="0">
                <a:solidFill>
                  <a:srgbClr val="A7C1BC"/>
                </a:solidFill>
                <a:latin typeface="Aptos"/>
              </a:rPr>
              <a:t>Bakhtiyor Sultanov • Idrock Accelerator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944600" y="7818120"/>
            <a:ext cx="274320" cy="2286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/>
            <a:r>
              <a:rPr sz="1000" b="0">
                <a:solidFill>
                  <a:srgbClr val="A7C1BC"/>
                </a:solidFill>
                <a:latin typeface="Aptos"/>
              </a:rPr>
              <a:t>11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7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685800"/>
            <a:ext cx="621792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3000" b="1" dirty="0">
                <a:solidFill>
                  <a:srgbClr val="09232B"/>
                </a:solidFill>
                <a:latin typeface="Aptos"/>
              </a:rPr>
              <a:t>Sources for market context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08760"/>
            <a:ext cx="4572000" cy="2743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400" b="1">
                <a:solidFill>
                  <a:srgbClr val="09232B"/>
                </a:solidFill>
                <a:latin typeface="Aptos"/>
              </a:rPr>
              <a:t>1. World Bank, 2025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" y="1801368"/>
            <a:ext cx="11155680" cy="2743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200" b="0">
                <a:solidFill>
                  <a:srgbClr val="466260"/>
                </a:solidFill>
                <a:latin typeface="Aptos"/>
              </a:rPr>
              <a:t>Uzbekistan irrigation modernization — agriculture water use and pump electricity data.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286000"/>
            <a:ext cx="4572000" cy="2743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400" b="1">
                <a:solidFill>
                  <a:srgbClr val="09232B"/>
                </a:solidFill>
                <a:latin typeface="Aptos"/>
              </a:rPr>
              <a:t>2. National SDG platform of Uzbekistan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2578608"/>
            <a:ext cx="11155680" cy="2743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200" b="0">
                <a:solidFill>
                  <a:srgbClr val="466260"/>
                </a:solidFill>
                <a:latin typeface="Aptos"/>
              </a:rPr>
              <a:t>Water resources from neighboring countries and agriculture/GDP context.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063240"/>
            <a:ext cx="4572000" cy="2743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400" b="1">
                <a:solidFill>
                  <a:srgbClr val="09232B"/>
                </a:solidFill>
                <a:latin typeface="Aptos"/>
              </a:rPr>
              <a:t>3. Statistics Agency of Uzbekistan, 2026 release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3355848"/>
            <a:ext cx="11155680" cy="2743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200" b="0">
                <a:solidFill>
                  <a:srgbClr val="466260"/>
                </a:solidFill>
                <a:latin typeface="Aptos"/>
              </a:rPr>
              <a:t>2025 GDP structure and agriculture share.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7818120"/>
            <a:ext cx="4572000" cy="2286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000" b="0">
                <a:solidFill>
                  <a:srgbClr val="A7C1BC"/>
                </a:solidFill>
                <a:latin typeface="Aptos"/>
              </a:rPr>
              <a:t>Bakhtiyor Sultanov • Idrock Accelerator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944600" y="7818120"/>
            <a:ext cx="274320" cy="2286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/>
            <a:r>
              <a:rPr sz="1000" b="0">
                <a:solidFill>
                  <a:srgbClr val="A7C1BC"/>
                </a:solidFill>
                <a:latin typeface="Aptos"/>
              </a:rPr>
              <a:t>12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209</TotalTime>
  <Words>707</Words>
  <Application>Microsoft Office PowerPoint</Application>
  <PresentationFormat>Произвольный</PresentationFormat>
  <Paragraphs>128</Paragraphs>
  <Slides>11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11</vt:i4>
      </vt:variant>
    </vt:vector>
  </HeadingPairs>
  <TitlesOfParts>
    <vt:vector size="16" baseType="lpstr">
      <vt:lpstr>Aptos</vt:lpstr>
      <vt:lpstr>Arial</vt:lpstr>
      <vt:lpstr>Arial Rounded MT Bold</vt:lpstr>
      <vt:lpstr>Calibri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subject/>
  <dc:creator/>
  <cp:keywords/>
  <dc:description>generated using python-pptx</dc:description>
  <cp:lastModifiedBy>hp</cp:lastModifiedBy>
  <cp:revision>11</cp:revision>
  <dcterms:created xsi:type="dcterms:W3CDTF">2013-01-27T09:14:16Z</dcterms:created>
  <dcterms:modified xsi:type="dcterms:W3CDTF">2026-07-04T19:41:05Z</dcterms:modified>
  <cp:category/>
</cp:coreProperties>
</file>